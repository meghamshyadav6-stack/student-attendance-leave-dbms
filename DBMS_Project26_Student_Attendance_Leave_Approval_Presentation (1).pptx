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3532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MANAGEMENT SYSTEMS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26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52025" y="2131256"/>
            <a:ext cx="6808764" cy="837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Attendance and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Approval System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6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&amp; Implementation of a Relational Database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D6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Python Front-End Application</a:t>
            </a:r>
          </a:p>
          <a:p>
            <a:pPr marL="0" indent="0" algn="ctr">
              <a:buNone/>
            </a:pPr>
            <a:endParaRPr lang="en-US" sz="1400" dirty="0">
              <a:solidFill>
                <a:srgbClr val="D6E3F0"/>
              </a:solidFill>
              <a:latin typeface="Arial" pitchFamily="34" charset="0"/>
              <a:cs typeface="Arial" pitchFamily="34" charset="-120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D6E3F0"/>
                </a:solidFill>
                <a:latin typeface="Arial" pitchFamily="34" charset="0"/>
                <a:cs typeface="Arial" pitchFamily="34" charset="-120"/>
              </a:rPr>
              <a:t>Nakka Meghamsh Yadav 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rgbClr val="D6E3F0"/>
                </a:solidFill>
                <a:latin typeface="Arial" pitchFamily="34" charset="0"/>
                <a:cs typeface="Arial" pitchFamily="34" charset="-120"/>
              </a:rPr>
              <a:t>25WU0102175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/ Review Roadmap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6858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0972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926080" y="10972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Problem, Scope, Objectives, Users, ER Diagram, Initial Schema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828800"/>
            <a:ext cx="109728" cy="6858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9202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26080" y="19202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3NF Normalization, Data Dictionary, DDL + Constraints, Sample SQL &amp; Views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5F7FA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651760"/>
            <a:ext cx="109728" cy="6858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7432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26080" y="27432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Application, CRUD, Reports, Testing, Demo &amp; Viva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474720"/>
            <a:ext cx="109728" cy="6858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5661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Highlights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926080" y="35661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 rules, percentage calculation, leave workflow, shortage alerts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PBL |  •  Page 2/12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Problem Identification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system is needed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256032" cy="256032"/>
          </a:xfrm>
          <a:prstGeom prst="ellipse">
            <a:avLst/>
          </a:prstGeom>
          <a:solidFill>
            <a:srgbClr val="C6591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898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353312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registers &amp; spreadsheets cause delayed consolidation and calculation errors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920240"/>
            <a:ext cx="256032" cy="256032"/>
          </a:xfrm>
          <a:prstGeom prst="ellipse">
            <a:avLst/>
          </a:prstGeom>
          <a:solidFill>
            <a:srgbClr val="C65911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385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901952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automatic shortage alerts before examinations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468880"/>
            <a:ext cx="256032" cy="256032"/>
          </a:xfrm>
          <a:prstGeom prst="ellipse">
            <a:avLst/>
          </a:prstGeom>
          <a:solidFill>
            <a:srgbClr val="C65911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4871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2450592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applications lack structured approval tracking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017520"/>
            <a:ext cx="256032" cy="256032"/>
          </a:xfrm>
          <a:prstGeom prst="ellipse">
            <a:avLst/>
          </a:prstGeom>
          <a:solidFill>
            <a:srgbClr val="C65911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0358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999232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cannot quickly generate section-wise or monthly reports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3566160"/>
            <a:ext cx="256032" cy="256032"/>
          </a:xfrm>
          <a:prstGeom prst="ellipse">
            <a:avLst/>
          </a:prstGeom>
          <a:solidFill>
            <a:srgbClr val="C65911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5844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3547872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have no real-time visibility of attendance percentage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PBL | •  Page 3/12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Objectives &amp; Users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F5F7F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Conceptual ER model of all entities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Normalized schema up to 3NF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DDL with full integrity constraints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SQL reports &amp; shortage views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Python front-end (CRUD + workflow)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Demonstrate integrity &amp; testing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914400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F5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051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/ Roles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8105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attendance, apply leave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24505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attendance, sessions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Approver / HoD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30906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/ reject leave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3474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Administrator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37307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data &amp; reports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PBL | •  Page 4/12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Conceptual Design – Principal Entities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1F4E79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280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06040" y="1051560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1F4E79"/>
          </a:solidFill>
          <a:ln/>
        </p:spPr>
      </p:sp>
      <p:sp>
        <p:nvSpPr>
          <p:cNvPr id="7" name="Text 5"/>
          <p:cNvSpPr/>
          <p:nvPr/>
        </p:nvSpPr>
        <p:spPr>
          <a:xfrm>
            <a:off x="2606040" y="1280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00600" y="1051560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1F4E79"/>
          </a:solidFill>
          <a:ln/>
        </p:spPr>
      </p:sp>
      <p:sp>
        <p:nvSpPr>
          <p:cNvPr id="9" name="Text 7"/>
          <p:cNvSpPr/>
          <p:nvPr/>
        </p:nvSpPr>
        <p:spPr>
          <a:xfrm>
            <a:off x="4800600" y="1280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95160" y="1051560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1F4E79"/>
          </a:solidFill>
          <a:ln/>
        </p:spPr>
      </p:sp>
      <p:sp>
        <p:nvSpPr>
          <p:cNvPr id="11" name="Text 9"/>
          <p:cNvSpPr/>
          <p:nvPr/>
        </p:nvSpPr>
        <p:spPr>
          <a:xfrm>
            <a:off x="6995160" y="1280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2194560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2E75B6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423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Session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606040" y="2194560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2E75B6"/>
          </a:solidFill>
          <a:ln/>
        </p:spPr>
      </p:sp>
      <p:sp>
        <p:nvSpPr>
          <p:cNvPr id="15" name="Text 13"/>
          <p:cNvSpPr/>
          <p:nvPr/>
        </p:nvSpPr>
        <p:spPr>
          <a:xfrm>
            <a:off x="2606040" y="2423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00600" y="2194560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2E75B6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2423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Type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995160" y="2194560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2E75B6"/>
          </a:solidFill>
          <a:ln/>
        </p:spPr>
      </p:sp>
      <p:sp>
        <p:nvSpPr>
          <p:cNvPr id="19" name="Text 17"/>
          <p:cNvSpPr/>
          <p:nvPr/>
        </p:nvSpPr>
        <p:spPr>
          <a:xfrm>
            <a:off x="6995160" y="2423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Application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11480" y="3337560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1F4E79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566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606040" y="3337560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1F4E79"/>
          </a:solidFill>
          <a:ln/>
        </p:spPr>
      </p:sp>
      <p:sp>
        <p:nvSpPr>
          <p:cNvPr id="23" name="Text 21"/>
          <p:cNvSpPr/>
          <p:nvPr/>
        </p:nvSpPr>
        <p:spPr>
          <a:xfrm>
            <a:off x="2606040" y="3566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Makeup Session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00600" y="3337560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1F4E79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3566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PBL | •  Page 5/12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Key Relationships &amp; Cardinality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40480" y="960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0" y="960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8412480" cy="4114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3990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→ Course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0" y="13990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 :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399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sections per course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737360"/>
            <a:ext cx="841248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8105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→ Section + Faculty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80" y="181051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 : 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18105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section, one faculty per session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148840"/>
            <a:ext cx="8412480" cy="4114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2219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0" y="22219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 : 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2221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↔ Session (with status)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560320"/>
            <a:ext cx="841248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6334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Application → Student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40480" y="26334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 : 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0" y="26334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leaves per student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2971800"/>
            <a:ext cx="8412480" cy="4114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044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→ Application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40480" y="3044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 : 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0" y="3044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trail per application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383280"/>
            <a:ext cx="841248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4564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Makeup → Original Session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840480" y="34564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 : 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0" y="34564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Compensatory classes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794760"/>
            <a:ext cx="8412480" cy="4114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38679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→ Student + Section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840480" y="386791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 : 1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0" y="38679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Shortage notifications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PBL | •  Page 6/12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4–5. Relational Schema &amp; Normalization (3NF)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Tables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STUDENT, COURSE, SECTION, FACULTY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CLASS_SESSION, ATTENDANCE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LEAVE_TYPE, LEAVE_APPLICATION, APPROVAL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MAKEUP_SESSION, ALERT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F5F7FA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051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 Result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463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1NF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0" y="1463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attributes, no repeating groups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2011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2NF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26480" y="20116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partial dependency on composite keys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2560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3NF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0" y="25603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transitive dependencies remain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32918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59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is fully in Third Normal Form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PBL | •  Page 7/12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6–7. Integrity Constraints (Business Rules)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502920"/>
          </a:xfrm>
          <a:prstGeom prst="roundRect">
            <a:avLst>
              <a:gd name="adj" fmla="val 10909"/>
            </a:avLst>
          </a:prstGeom>
          <a:solidFill>
            <a:srgbClr val="F5F7F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attendance record per student per session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94960" y="1005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(session_id, student_id)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84124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00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attendance status codes only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94960" y="1600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 / CHECK constraint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103120"/>
            <a:ext cx="8412480" cy="502920"/>
          </a:xfrm>
          <a:prstGeom prst="roundRect">
            <a:avLst>
              <a:gd name="adj" fmla="val 10909"/>
            </a:avLst>
          </a:prstGeom>
          <a:solidFill>
            <a:srgbClr val="F5F7F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1945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from_date ≤ to_date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94960" y="2194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(from_date &lt;= to_date)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697480"/>
            <a:ext cx="84124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7889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only by authorized faculty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94960" y="2788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FK to Faculty + app logic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8412480" cy="502920"/>
          </a:xfrm>
          <a:prstGeom prst="roundRect">
            <a:avLst>
              <a:gd name="adj" fmla="val 10909"/>
            </a:avLst>
          </a:prstGeom>
          <a:solidFill>
            <a:srgbClr val="F5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3832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Percentage between 0 and 100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94960" y="3383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(0 ≤ percentage ≤ 100)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886200"/>
            <a:ext cx="84124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977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Referential integrity everywhere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94960" y="3977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&amp; Foreign Keys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PBL | •  Page 8/12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Key SQL Reports &amp; Views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188720"/>
            <a:ext cx="640080" cy="502920"/>
          </a:xfrm>
          <a:prstGeom prst="roundRect">
            <a:avLst>
              <a:gd name="adj" fmla="val 10909"/>
            </a:avLst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3444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143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Student-wise Attendance 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14630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Joins + aggregate CASE for Present/Late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5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4892040" y="1188720"/>
            <a:ext cx="640080" cy="502920"/>
          </a:xfrm>
          <a:prstGeom prst="roundRect">
            <a:avLst>
              <a:gd name="adj" fmla="val 10909"/>
            </a:avLst>
          </a:prstGeom>
          <a:solidFill>
            <a:srgbClr val="2E75B6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23444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715000" y="1143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Shortage List (View)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15000" y="14630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HAVING percentage &lt; 75 % threshold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14884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5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2377440"/>
            <a:ext cx="640080" cy="502920"/>
          </a:xfrm>
          <a:prstGeom prst="roundRect">
            <a:avLst>
              <a:gd name="adj" fmla="val 10909"/>
            </a:avLst>
          </a:prstGeom>
          <a:solidFill>
            <a:srgbClr val="2E75B6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42316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23317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History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26517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+ Type + Approval trail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14884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5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4892040" y="2377440"/>
            <a:ext cx="640080" cy="502920"/>
          </a:xfrm>
          <a:prstGeom prst="roundRect">
            <a:avLst>
              <a:gd name="adj" fmla="val 10909"/>
            </a:avLst>
          </a:prstGeom>
          <a:solidFill>
            <a:srgbClr val="2E75B6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42316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15000" y="23317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/ Section Summary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15000" y="26517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Sessions conducted, avg %, shortage count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33756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5F7FA"/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" y="3566160"/>
            <a:ext cx="640080" cy="502920"/>
          </a:xfrm>
          <a:prstGeom prst="roundRect">
            <a:avLst>
              <a:gd name="adj" fmla="val 10909"/>
            </a:avLst>
          </a:prstGeom>
          <a:solidFill>
            <a:srgbClr val="2E75B6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36118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25880" y="35204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Trend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25880" y="38404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BY YEAR/MONTH of session_date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333756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5F7FA"/>
          </a:solidFill>
          <a:ln/>
        </p:spPr>
      </p:sp>
      <p:sp>
        <p:nvSpPr>
          <p:cNvPr id="30" name="Shape 28"/>
          <p:cNvSpPr/>
          <p:nvPr/>
        </p:nvSpPr>
        <p:spPr>
          <a:xfrm>
            <a:off x="4892040" y="3566160"/>
            <a:ext cx="640080" cy="502920"/>
          </a:xfrm>
          <a:prstGeom prst="roundRect">
            <a:avLst>
              <a:gd name="adj" fmla="val 10909"/>
            </a:avLst>
          </a:prstGeom>
          <a:solidFill>
            <a:srgbClr val="2E75B6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36118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715000" y="35204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Makeup Attendance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715000" y="38404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compensatory sessions to original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PBL | •  Page 9/12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Python Application Modules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051560"/>
            <a:ext cx="2057400" cy="10972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37160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&amp; Roles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8288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/ Faculty / Approver / Admin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105156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/>
        </p:spPr>
      </p:sp>
      <p:sp>
        <p:nvSpPr>
          <p:cNvPr id="9" name="Shape 7"/>
          <p:cNvSpPr/>
          <p:nvPr/>
        </p:nvSpPr>
        <p:spPr>
          <a:xfrm>
            <a:off x="2514600" y="1051560"/>
            <a:ext cx="2057400" cy="10972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137160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Creation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06040" y="18288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selects section, date, topic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05156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/>
        </p:spPr>
      </p:sp>
      <p:sp>
        <p:nvSpPr>
          <p:cNvPr id="13" name="Shape 11"/>
          <p:cNvSpPr/>
          <p:nvPr/>
        </p:nvSpPr>
        <p:spPr>
          <a:xfrm>
            <a:off x="4709160" y="1051560"/>
            <a:ext cx="2057400" cy="10972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137160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Marking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18288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Present / Absent / Late / On-Leave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3720" y="105156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/>
        </p:spPr>
      </p:sp>
      <p:sp>
        <p:nvSpPr>
          <p:cNvPr id="17" name="Shape 15"/>
          <p:cNvSpPr/>
          <p:nvPr/>
        </p:nvSpPr>
        <p:spPr>
          <a:xfrm>
            <a:off x="6903720" y="1051560"/>
            <a:ext cx="2057400" cy="10972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0" y="137160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Submission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95160" y="18288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range + reason form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69748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" y="2697480"/>
            <a:ext cx="2057400" cy="10972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01752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Dashboard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" y="34747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list → Approve / Reject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14600" y="269748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/>
        </p:spPr>
      </p:sp>
      <p:sp>
        <p:nvSpPr>
          <p:cNvPr id="25" name="Shape 23"/>
          <p:cNvSpPr/>
          <p:nvPr/>
        </p:nvSpPr>
        <p:spPr>
          <a:xfrm>
            <a:off x="2514600" y="2697480"/>
            <a:ext cx="2057400" cy="10972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6" name="Text 24"/>
          <p:cNvSpPr/>
          <p:nvPr/>
        </p:nvSpPr>
        <p:spPr>
          <a:xfrm>
            <a:off x="2606040" y="301752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Makeup Entry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606040" y="34747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to original + record attendance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269748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/>
        </p:spPr>
      </p:sp>
      <p:sp>
        <p:nvSpPr>
          <p:cNvPr id="29" name="Shape 27"/>
          <p:cNvSpPr/>
          <p:nvPr/>
        </p:nvSpPr>
        <p:spPr>
          <a:xfrm>
            <a:off x="4709160" y="2697480"/>
            <a:ext cx="2057400" cy="10972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301752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&amp; Alerts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00600" y="34747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On-demand calculation + generation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903720" y="2697480"/>
            <a:ext cx="2057400" cy="137160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/>
        </p:spPr>
      </p:sp>
      <p:sp>
        <p:nvSpPr>
          <p:cNvPr id="33" name="Shape 31"/>
          <p:cNvSpPr/>
          <p:nvPr/>
        </p:nvSpPr>
        <p:spPr>
          <a:xfrm>
            <a:off x="6903720" y="2697480"/>
            <a:ext cx="2057400" cy="10972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4" name="Text 32"/>
          <p:cNvSpPr/>
          <p:nvPr/>
        </p:nvSpPr>
        <p:spPr>
          <a:xfrm>
            <a:off x="6995160" y="301752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Export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95160" y="347472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Q1–Q6 with filters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PBL | •  Page 10/12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Testing Highlights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868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attendance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480560" y="8686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Rejected by UNIQUE constraint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07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3075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 leave dates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80560" y="130759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Rejected by CHECK constraint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7465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174650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Unauthorized approval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80560" y="174650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Blocked by FK / role logic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1854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18541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calculation accuracy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80560" y="218541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Matches manual count (sample 20)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2624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262432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Shortage alert trigger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80560" y="262432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Only when % &lt; threshold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3063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Makeup impact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480560" y="30632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Updates overall percentage correctly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5021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350215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safety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480560" y="35021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Rollback on partial failure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39410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394106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performance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480560" y="394106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Fast search on reg_no, session_date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PBL | •  Page 11/12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Conclusion &amp; Future Scope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achieved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Complete ER → 3NF relational design with all business rules enforced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Working SQL reports for attendance %, shortages, leave history &amp; trends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Python front-end covering the full attendance + leave lifecycle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Demonstrated integrity, transactions, indexing and systematic testing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Enhancements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Biometric / QR attendance  •  Mobile push alerts  •  Multi-level hierarchical approval  •  Graphical dashboards  •  Exam-module integration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659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 |  Questions?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PBL |  •  Page 12/12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862</Words>
  <Application>Microsoft Office PowerPoint</Application>
  <PresentationFormat>On-screen Show (16:9)</PresentationFormat>
  <Paragraphs>204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26 – Student Attendance &amp; Leave Approval System</dc:title>
  <dc:subject>DBMS PBL Project Report Presentation</dc:subject>
  <dc:creator>DBMS Project Team</dc:creator>
  <cp:lastModifiedBy>meghamsh yadav</cp:lastModifiedBy>
  <cp:revision>2</cp:revision>
  <dcterms:created xsi:type="dcterms:W3CDTF">2026-10-13T08:38:50Z</dcterms:created>
  <dcterms:modified xsi:type="dcterms:W3CDTF">2026-10-13T10:09:18Z</dcterms:modified>
</cp:coreProperties>
</file>